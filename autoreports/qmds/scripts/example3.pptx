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F497D"/>
    <a:srgbClr val="261E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6980"/>
    <p:restoredTop sz="94660"/>
  </p:normalViewPr>
  <p:slideViewPr>
    <p:cSldViewPr snapToGrid="0">
      <p:cViewPr varScale="1">
        <p:scale>
          <a:sx d="100" n="75"/>
          <a:sy d="100" n="75"/>
        </p:scale>
        <p:origin x="888" y="26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9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8" Type="http://schemas.openxmlformats.org/officeDocument/2006/relationships/theme" Target="theme/theme1.xml" /><Relationship Id="rId7" Type="http://schemas.openxmlformats.org/officeDocument/2006/relationships/viewProps" Target="viewProps.xml" /><Relationship Id="rId6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05B3F95-B4EE-4650-B036-BF855923146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497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AA70DC-C329-499D-9644-3C4E242451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5461" y="758421"/>
            <a:ext cx="6964845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C164F4-F1B5-43F8-BED3-913B48A1FA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35461" y="3405153"/>
            <a:ext cx="6964846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>
                    <a:lumMod val="10000"/>
                    <a:lumOff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b="1" dirty="0">
                <a:solidFill>
                  <a:srgbClr val="FF0000"/>
                </a:solidFill>
              </a:rPr>
              <a:t>CONFIDENTIAL DO NOT SHARE</a:t>
            </a:r>
            <a:r>
              <a:rPr lang="en-GB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D2B9DC-7E34-46CC-9691-C1878E3FD5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548" y="1915993"/>
            <a:ext cx="2518913" cy="251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748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9AD6C-1024-423B-8C6F-CFA7F831E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D781C-80EA-44F9-9355-D0236AF13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442" y="1025718"/>
            <a:ext cx="11395494" cy="5330632"/>
          </a:xfrm>
        </p:spPr>
        <p:txBody>
          <a:bodyPr/>
          <a:lstStyle>
            <a:lvl1pPr>
              <a:defRPr sz="21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BE77D-8A73-494D-9849-6C109D2208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4587"/>
            <a:ext cx="2743200" cy="365125"/>
          </a:xfrm>
          <a:prstGeom prst="rect">
            <a:avLst/>
          </a:prstGeom>
        </p:spPr>
        <p:txBody>
          <a:bodyPr/>
          <a:lstStyle/>
          <a:p>
            <a:fld id="{09085919-CDE9-424C-A196-795EB7C82A4E}" type="datetime1">
              <a:rPr lang="en-GB" smtClean="0"/>
              <a:t>16/09/2025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CBB34-0132-454F-A47A-62E909F90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DO NOT SHARE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23EEA-CF9B-4C03-A86F-E55FBF1F6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4480-D5EF-43D7-9E80-33873478BD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3504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0C4E4-9A2A-40B3-B5A6-D51004FB5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26631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99CC88-2E57-45DE-98D0-206A55FB0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F9E2C-8E59-4771-B18C-D92827DE06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4587"/>
            <a:ext cx="2743200" cy="365125"/>
          </a:xfrm>
          <a:prstGeom prst="rect">
            <a:avLst/>
          </a:prstGeom>
        </p:spPr>
        <p:txBody>
          <a:bodyPr/>
          <a:lstStyle/>
          <a:p>
            <a:fld id="{283E2FC0-8B1B-4DF4-B332-F3248E5677DA}" type="datetime1">
              <a:rPr lang="en-GB" smtClean="0"/>
              <a:t>16/09/2025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0DB4D-1AA3-482A-A477-BD7F463E7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DO NOT SHARE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D1FED-F9D3-4314-9B1E-30A06F3E1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4480-D5EF-43D7-9E80-33873478BD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9844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96C82-2738-488A-BA03-185238586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49E5-5389-4A0F-A86F-AE1A772F37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0215" y="1052422"/>
            <a:ext cx="4612937" cy="5303927"/>
          </a:xfrm>
        </p:spPr>
        <p:txBody>
          <a:bodyPr>
            <a:norm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1E3812-6BB3-48A9-8D95-258D5AEF5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94998" y="1052422"/>
            <a:ext cx="7151426" cy="5303927"/>
          </a:xfrm>
        </p:spPr>
        <p:txBody>
          <a:bodyPr>
            <a:norm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3E493E-88FB-44D0-A974-B2CC34E22F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29222"/>
            <a:ext cx="2743200" cy="365125"/>
          </a:xfrm>
          <a:prstGeom prst="rect">
            <a:avLst/>
          </a:prstGeom>
        </p:spPr>
        <p:txBody>
          <a:bodyPr/>
          <a:lstStyle/>
          <a:p>
            <a:fld id="{44CCE157-91AA-440C-AEFF-D404EFD6E0EF}" type="datetime1">
              <a:rPr lang="en-GB" smtClean="0"/>
              <a:t>16/09/2025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94F96A-9D9B-4000-813D-134600F48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29222"/>
            <a:ext cx="4114800" cy="365125"/>
          </a:xfrm>
        </p:spPr>
        <p:txBody>
          <a:bodyPr/>
          <a:lstStyle/>
          <a:p>
            <a:r>
              <a:rPr lang="en-GB"/>
              <a:t>CONFIDENTIAL DO NOT SHARE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6FEF95-31A1-40BB-8E0B-80FABB6CB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29222"/>
            <a:ext cx="2743200" cy="365125"/>
          </a:xfrm>
        </p:spPr>
        <p:txBody>
          <a:bodyPr/>
          <a:lstStyle/>
          <a:p>
            <a:fld id="{85CF4480-D5EF-43D7-9E80-33873478BD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151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FF1EA-D29C-4097-B6E8-E9E6BE030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F9C8BB-13BB-4139-97E1-EB2BFE160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AEF433-A8C8-4BF7-8793-845D88764C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0D435E-B230-414B-A4BC-E770DCB485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B80737-F6EC-464F-8D14-146193F681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C7A8CA-6D39-4364-B7A2-A1EA8335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4587"/>
            <a:ext cx="2743200" cy="365125"/>
          </a:xfrm>
          <a:prstGeom prst="rect">
            <a:avLst/>
          </a:prstGeom>
        </p:spPr>
        <p:txBody>
          <a:bodyPr/>
          <a:lstStyle/>
          <a:p>
            <a:fld id="{93794C2F-2E58-484A-8BEB-76AB283CA6CD}" type="datetime1">
              <a:rPr lang="en-GB" smtClean="0"/>
              <a:t>16/09/2025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582E45-60C0-48A7-B9DB-5C622C510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DO NOT SHARE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043FAF-9A6B-414A-AA78-B13D602F7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4480-D5EF-43D7-9E80-33873478BD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7542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19B7D-CA8B-4787-8808-34310911F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CECBBF-6D75-428C-B60B-135C12E447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4587"/>
            <a:ext cx="2743200" cy="365125"/>
          </a:xfrm>
          <a:prstGeom prst="rect">
            <a:avLst/>
          </a:prstGeom>
        </p:spPr>
        <p:txBody>
          <a:bodyPr/>
          <a:lstStyle/>
          <a:p>
            <a:fld id="{7B8FC18A-DEC9-4C27-8517-CE3D0A488826}" type="datetime1">
              <a:rPr lang="en-GB" smtClean="0"/>
              <a:t>16/09/2025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3EDF17-A453-48D6-900F-841EBC587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DO NOT SHARE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A4EEE-6A39-41B4-9719-DEC3DEE56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4480-D5EF-43D7-9E80-33873478BD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0104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0D6F07-E051-4D38-951D-B145A44863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4587"/>
            <a:ext cx="2743200" cy="365125"/>
          </a:xfrm>
          <a:prstGeom prst="rect">
            <a:avLst/>
          </a:prstGeom>
        </p:spPr>
        <p:txBody>
          <a:bodyPr/>
          <a:lstStyle/>
          <a:p>
            <a:fld id="{9D6AC536-338D-45FE-9158-AFE9EA316EF0}" type="datetime1">
              <a:rPr lang="en-GB" smtClean="0"/>
              <a:t>16/09/2025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7B8AC1-B989-4701-8DAF-E8ADC1076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DO NOT SHARE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4A09E-88CD-4E6E-ABFA-19942D7DE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4480-D5EF-43D7-9E80-33873478BD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3345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450BA-9052-4222-9B9E-7AD551C25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C9D35-7F7C-43C1-9D63-0ECFE726D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CE18A9-7731-4737-A041-B45E2F238D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704E14-9F18-4BA0-B4F4-E1F5840923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4587"/>
            <a:ext cx="2743200" cy="365125"/>
          </a:xfrm>
          <a:prstGeom prst="rect">
            <a:avLst/>
          </a:prstGeom>
        </p:spPr>
        <p:txBody>
          <a:bodyPr/>
          <a:lstStyle/>
          <a:p>
            <a:fld id="{DCE574D1-BA98-4D7D-BD03-EE618C047CED}" type="datetime1">
              <a:rPr lang="en-GB" smtClean="0"/>
              <a:t>16/09/2025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AB6C61-B46E-4EB7-BC38-EDE92BB89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DO NOT SHARE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1871D-1675-40C5-87BB-9EC657813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4480-D5EF-43D7-9E80-33873478BD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076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EC784-DD4E-456D-BD3F-604BCF6DF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1DF7B4-CDA3-4E1B-9D7A-605A56B69E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4EDD5-BC23-42D1-8B02-EE12A118F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B3E71-E4F0-4881-982C-B61CBA3CD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4587"/>
            <a:ext cx="2743200" cy="365125"/>
          </a:xfrm>
          <a:prstGeom prst="rect">
            <a:avLst/>
          </a:prstGeom>
        </p:spPr>
        <p:txBody>
          <a:bodyPr/>
          <a:lstStyle/>
          <a:p>
            <a:fld id="{0307646F-F735-42C7-A114-549B59547A4A}" type="datetime1">
              <a:rPr lang="en-GB" smtClean="0"/>
              <a:t>16/09/2025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3DF3A-E0D8-4A28-A8D6-98AE2445C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DO NOT SHARE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336627-3B9D-46F7-8E63-051AADAEF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4480-D5EF-43D7-9E80-33873478BD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8166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5CE4B-9924-4104-85C6-FD99757A0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655F78-36F7-4CC6-8350-96AB20536C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EA6FE-FF84-42E1-B03E-AFE3DF30FD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4587"/>
            <a:ext cx="2743200" cy="365125"/>
          </a:xfrm>
          <a:prstGeom prst="rect">
            <a:avLst/>
          </a:prstGeom>
        </p:spPr>
        <p:txBody>
          <a:bodyPr/>
          <a:lstStyle/>
          <a:p>
            <a:fld id="{D808DE53-4824-406D-9A02-A3027787A573}" type="datetime1">
              <a:rPr lang="en-GB" smtClean="0"/>
              <a:t>16/09/2025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775EE-F78D-4647-986F-9DC2A66D8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DO NOT SHARE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E1A42-A668-43F5-9564-28A92E6D2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4480-D5EF-43D7-9E80-33873478BD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4982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F1CAE5-E63A-419A-87E8-961CA07FF7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8D8724-1117-4D30-A2B4-FFC37E3F60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E27E0-9785-46F9-8E60-384E2B5E8A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4587"/>
            <a:ext cx="2743200" cy="365125"/>
          </a:xfrm>
          <a:prstGeom prst="rect">
            <a:avLst/>
          </a:prstGeom>
        </p:spPr>
        <p:txBody>
          <a:bodyPr/>
          <a:lstStyle/>
          <a:p>
            <a:fld id="{550224BC-0465-41CA-875F-DBEE5D23A3E1}" type="datetime1">
              <a:rPr lang="en-GB" smtClean="0"/>
              <a:t>16/09/2025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3B1AC-B084-4C55-B3C2-B791FE117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DO NOT SHARE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1A574-4280-46CC-B1D6-AD64D15B8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4480-D5EF-43D7-9E80-33873478BD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053457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media/image1.png" Type="http://schemas.openxmlformats.org/officeDocument/2006/relationships/imag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1DFCF0A-AD2B-4152-AE42-0957AEE0F2CE}"/>
              </a:ext>
            </a:extLst>
          </p:cNvPr>
          <p:cNvSpPr/>
          <p:nvPr userDrawn="1"/>
        </p:nvSpPr>
        <p:spPr>
          <a:xfrm>
            <a:off x="0" y="0"/>
            <a:ext cx="12192000" cy="866365"/>
          </a:xfrm>
          <a:prstGeom prst="rect">
            <a:avLst/>
          </a:prstGeom>
          <a:solidFill>
            <a:srgbClr val="1F497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74E877-3233-4871-AFB8-F36E1C254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364" y="0"/>
            <a:ext cx="10487435" cy="866365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  <a:endParaRPr dirty="0"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965343-8E50-4AD3-9262-0311ED4852A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025718"/>
            <a:ext cx="10515600" cy="5151245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5B32E-2EE0-4765-A905-C59A4FCC0143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424587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b="1" dirty="0" lang="en-GB">
                <a:solidFill>
                  <a:srgbClr val="FF0000"/>
                </a:solidFill>
              </a:rPr>
              <a:t>CONFIDENTIAL DO NOT SHARE</a:t>
            </a:r>
            <a:r>
              <a:rPr dirty="0" lang="en-GB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A5BD9-87FB-46C9-BF4A-C903D56F9842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424587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F4480-D5EF-43D7-9E80-33873478BDFF}" type="slidenum">
              <a:rPr lang="en-GB" smtClean="0"/>
              <a:t>‹#›</a:t>
            </a:fld>
            <a:endParaRPr dirty="0"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5F1C18-A84F-4180-8945-0AA8281FA20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66365" cy="866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177633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 id="7"/>
                                        <p:tgtEl>
                                          <p:spTgt spid="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8"/>
                                        <p:tgtEl>
                                          <p:spTgt spid="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9"/>
                                        <p:tgtEl>
                                          <p:spTgt spid="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10" nodeType="with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 id="12"/>
                                        <p:tgtEl>
                                          <p:spTgt spid="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13"/>
                                        <p:tgtEl>
                                          <p:spTgt spid="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4"/>
                                        <p:tgtEl>
                                          <p:spTgt spid="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15" nodeType="with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 id="17"/>
                                        <p:tgtEl>
                                          <p:spTgt spid="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18"/>
                                        <p:tgtEl>
                                          <p:spTgt spid="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9"/>
                                        <p:tgtEl>
                                          <p:spTgt spid="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20" nodeType="with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 id="22"/>
                                        <p:tgtEl>
                                          <p:spTgt spid="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23"/>
                                        <p:tgtEl>
                                          <p:spTgt spid="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24"/>
                                        <p:tgtEl>
                                          <p:spTgt spid="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25" nodeType="with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 id="27"/>
                                        <p:tgtEl>
                                          <p:spTgt spid="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28"/>
                                        <p:tgtEl>
                                          <p:spTgt spid="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29"/>
                                        <p:tgtEl>
                                          <p:spTgt spid="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grpId="0" spid="3">
        <p:tmplLst>
          <p:tmpl lvl="1">
            <p:tnLst>
              <p:par>
                <p:cTn fill="hold" nodeType="clickEffect" presetClass="entr" presetID="42" presetSubtype="0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filter="fade" transition="in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fill="hold" nodeType="withEffect" presetClass="entr" presetID="42" presetSubtype="0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filter="fade" transition="in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fill="hold" nodeType="withEffect" presetClass="entr" presetID="42" presetSubtype="0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filter="fade" transition="in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fill="hold" nodeType="withEffect" presetClass="entr" presetID="42" presetSubtype="0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filter="fade" transition="in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fill="hold" nodeType="withEffect" presetClass="entr" presetID="42" presetSubtype="0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filter="fade" transition="in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dt="0"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b="1" kern="1200" sz="4400">
          <a:solidFill>
            <a:srgbClr val="FFFFFF"/>
          </a:solidFill>
          <a:latin charset="0" panose="020B0503030403020204" pitchFamily="34" typeface="Source Sans Pro"/>
          <a:ea charset="0" panose="020B0503030403020204" pitchFamily="34" typeface="Source Sans Pro"/>
          <a:cs charset="-79" panose="02010803020104030203" pitchFamily="2" typeface="Aharoni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charset="0" panose="020B0604020202020204" pitchFamily="34" typeface="Arial"/>
          <a:ea charset="0" panose="020B0503030403020204" pitchFamily="34" typeface="Source Sans Pro"/>
          <a:cs charset="0" panose="020B0604020202020204" pitchFamily="34" typeface="Arial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charset="0" panose="020B0604020202020204" pitchFamily="34" typeface="Arial"/>
          <a:ea charset="0" panose="020B0503030403020204" pitchFamily="34" typeface="Source Sans Pro"/>
          <a:cs charset="0" panose="020B0604020202020204" pitchFamily="34" typeface="Arial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charset="0" panose="020B0604020202020204" pitchFamily="34" typeface="Arial"/>
          <a:ea charset="0" panose="020B0503030403020204" pitchFamily="34" typeface="Source Sans Pro"/>
          <a:cs charset="0" panose="020B0604020202020204" pitchFamily="34" typeface="Arial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600">
          <a:solidFill>
            <a:schemeClr val="tx1"/>
          </a:solidFill>
          <a:latin charset="0" panose="020B0604020202020204" pitchFamily="34" typeface="Arial"/>
          <a:ea charset="0" panose="020B0503030403020204" pitchFamily="34" typeface="Source Sans Pro"/>
          <a:cs charset="0" panose="020B0604020202020204" pitchFamily="34" typeface="Arial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600">
          <a:solidFill>
            <a:schemeClr val="tx1"/>
          </a:solidFill>
          <a:latin charset="0" panose="020B0604020202020204" pitchFamily="34" typeface="Arial"/>
          <a:ea charset="0" panose="020B0503030403020204" pitchFamily="34" typeface="Source Sans Pro"/>
          <a:cs charset="0" panose="020B0604020202020204" pitchFamily="34" typeface="Arial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A70DC-C329-499D-9644-3C4E242451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5461" y="758421"/>
            <a:ext cx="6964845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Surveillance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C164F4-F1B5-43F8-BED3-913B48A1FA95}"/>
              </a:ext>
            </a:extLst>
          </p:cNvPr>
          <p:cNvSpPr>
            <a:spLocks noGrp="1"/>
          </p:cNvSpPr>
          <p:nvPr>
            <p:ph hasCustomPrompt="1" idx="1" type="subTitle"/>
          </p:nvPr>
        </p:nvSpPr>
        <p:spPr>
          <a:xfrm>
            <a:off x="3435461" y="3405153"/>
            <a:ext cx="6964846" cy="1655762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  <p:sp/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0C4E4-9A2A-40B3-B5A6-D51004FB5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26631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Epidemiology of disease 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0DB4D-1AA3-482A-A477-BD7F463E7494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CONFIDENTIAL DO NOT SHARE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D1FED-F9D3-4314-9B1E-30A06F3E104B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85CF4480-D5EF-43D7-9E80-33873478BDFF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9AD6C-1024-423B-8C6F-CFA7F831E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D781C-80EA-44F9-9355-D0236AF13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There have been 166 cases of </a:t>
            </a:r>
            <a:r>
              <a:rPr i="1"/>
              <a:t>disease X</a:t>
            </a:r>
            <a:r>
              <a:rPr/>
              <a:t> across 4 regions.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765284133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649109"/>
                <a:gridCol w="602520"/>
              </a:tblGrid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region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count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2888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Bexar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2888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Liora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2888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Nelos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4184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Sorel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CBB34-0132-454F-A47A-62E909F9055F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CONFIDENTIAL DO NOT SHARE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23EEA-CF9B-4C03-A86F-E55FBF1F6DA6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85CF4480-D5EF-43D7-9E80-33873478BDFF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450BA-9052-4222-9B9E-7AD551C25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Cases over time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CE18A9-7731-4737-A041-B45E2F238DF3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most recent case was reported on 2021-05-24.</a:t>
            </a:r>
          </a:p>
          <a:p>
            <a:pPr lvl="0" indent="0" marL="0">
              <a:buNone/>
            </a:pPr>
            <a:r>
              <a:rPr b="1"/>
              <a:t>Epicurve of cases over time, by report date</a:t>
            </a:r>
          </a:p>
        </p:txBody>
      </p:sp>
      <p:pic>
        <p:nvPicPr>
          <p:cNvPr descr="example3_files/figure-pptx/plot_reportdat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1600" y="1866900"/>
            <a:ext cx="6172200" cy="308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AB6C61-B46E-4EB7-BC38-EDE92BB89DD5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CONFIDENTIAL DO NOT SHARE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1871D-1675-40C5-87BB-9EC6578134F1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85CF4480-D5EF-43D7-9E80-33873478BDFF}" type="slidenum">
              <a:rPr lang="en-GB" smtClean="0"/>
              <a:t>‹#›</a:t>
            </a:fld>
            <a:endParaRPr lang="en-GB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Custom 6">
      <a:dk1>
        <a:srgbClr val="000000"/>
      </a:dk1>
      <a:lt1>
        <a:srgbClr val="262626"/>
      </a:lt1>
      <a:dk2>
        <a:srgbClr val="373545"/>
      </a:dk2>
      <a:lt2>
        <a:srgbClr val="CEDBE6"/>
      </a:lt2>
      <a:accent1>
        <a:srgbClr val="FFFFFF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A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Source Sans Pro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Surveillance report</dc:title>
  <dc:creator/>
  <cp:keywords/>
  <dcterms:created xsi:type="dcterms:W3CDTF">2026-01-01T09:30:33Z</dcterms:created>
  <dcterms:modified xsi:type="dcterms:W3CDTF">2026-01-01T09:30:33Z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date">
    <vt:lpwstr>2025-05-22</vt:lpwstr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